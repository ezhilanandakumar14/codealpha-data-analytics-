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60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E83"/>
          </a:solidFill>
          <a:ln w="12700">
            <a:solidFill>
              <a:srgbClr val="0D7E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22A50"/>
          </a:solidFill>
          <a:ln w="12700">
            <a:solidFill>
              <a:srgbClr val="122A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6858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0" y="1344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66560" y="1737360"/>
            <a:ext cx="182880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2103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0" y="27614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3154680"/>
            <a:ext cx="182880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5204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00800" y="4178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685800"/>
            <a:ext cx="5715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0040" y="1280160"/>
            <a:ext cx="5715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320040" y="2029968"/>
            <a:ext cx="2377440" cy="36576"/>
          </a:xfrm>
          <a:prstGeom prst="rect">
            <a:avLst/>
          </a:prstGeom>
          <a:solidFill>
            <a:srgbClr val="0D7E83"/>
          </a:solidFill>
          <a:ln w="12700">
            <a:solidFill>
              <a:srgbClr val="0D7E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7627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CodeAlpha Internship  |  Data Analytics Domain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2186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Task 4 – Sentiment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60273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98678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•  VADER Sentiment  •  Pandas  •  Matplotlib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Sentiment Analysis?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(Opinion Mining) is an NLP technique used to determine whether text expresses a Positive, Negative, or Neutral emotion. It is widely used by businesses to understand customer feedback and monitor brand reputation.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2743200" cy="146304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Positive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satisfied.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+0.05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27832" y="1572768"/>
            <a:ext cx="2743200" cy="146304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😞 Negative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19272" y="212140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dissatisfied.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-0.05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35624" y="1572768"/>
            <a:ext cx="2743200" cy="1463040"/>
          </a:xfrm>
          <a:prstGeom prst="rect">
            <a:avLst/>
          </a:prstGeom>
          <a:solidFill>
            <a:srgbClr val="F2F3F4"/>
          </a:solidFill>
          <a:ln w="1270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7064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Neutral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27064" y="212140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opinion.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-0.05 to +0.05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8503920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82112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VADER Sentiment: A rule-based NLP tool that scores text from -1.0 (most negative) to +1.0 (most positive)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822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0040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Analyzed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87168" y="37490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87168" y="3822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487168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54296" y="37490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54296" y="3822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654296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21424" y="374904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21424" y="38221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21424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15 Amazon Product Reviews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6766560" cy="416052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00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  —  Sentiment Distribution (Bar Chart)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85800"/>
            <a:ext cx="53035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658368"/>
            <a:ext cx="3337560" cy="3246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7772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1170432"/>
            <a:ext cx="30632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15 reviews analyzed:</a:t>
            </a:r>
            <a:endParaRPr lang="en-US" sz="1050" dirty="0"/>
          </a:p>
          <a:p>
            <a:pPr marL="0" indent="0" algn="just">
              <a:buNone/>
            </a:pP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 reviews (53.3%) were Positive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5 reviews (33.3%) were Negative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 2 review (13.3%) was Neutral</a:t>
            </a:r>
            <a:endParaRPr lang="en-US" sz="1050" dirty="0"/>
          </a:p>
          <a:p>
            <a:pPr marL="0" indent="0" algn="just">
              <a:buNone/>
            </a:pP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chart clearly shows that Positive reviews dominate the dataset.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9728" y="3977640"/>
            <a:ext cx="891540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" y="39776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 of reviews were Positive, indicating strong overall customer satisfaction. Businesses can track this over time to monitor quality.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2  —  Sentiment Breakdown (Pie Chart)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85800"/>
            <a:ext cx="53035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658368"/>
            <a:ext cx="3337560" cy="3246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7772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1170432"/>
            <a:ext cx="30632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 chart shows the proportional split:</a:t>
            </a:r>
            <a:endParaRPr lang="en-US" sz="1050" dirty="0"/>
          </a:p>
          <a:p>
            <a:pPr marL="0" indent="0" algn="just">
              <a:buNone/>
            </a:pP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Positive: 53.3% (green)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Negative: 33.3% (red)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Neutral: 13.3% (gray)</a:t>
            </a:r>
            <a:endParaRPr lang="en-US" sz="1050" dirty="0"/>
          </a:p>
          <a:p>
            <a:pPr marL="0" indent="0" algn="just">
              <a:buNone/>
            </a:pP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clearly dominates, meaning most customers had a satisfying experience with Amazon products.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9728" y="3977640"/>
            <a:ext cx="89154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" y="39776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reviews were Positive. The 33.3% Negative rate highlights specific areas where product quality or delivery needs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3  —  Sentiment Score per Review (Scatter)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0D7E83"/>
          </a:solidFill>
          <a:ln w="12700">
            <a:solidFill>
              <a:srgbClr val="0D7E8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85800"/>
            <a:ext cx="53035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658368"/>
            <a:ext cx="3337560" cy="3246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7772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1170432"/>
            <a:ext cx="30632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represents one review.</a:t>
            </a:r>
            <a:endParaRPr lang="en-US" sz="1050" dirty="0"/>
          </a:p>
          <a:p>
            <a:pPr marL="0" indent="0" algn="just">
              <a:buNone/>
            </a:pP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Dots ABOVE green line → Positive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Dots BELOW red line → Negative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Dots IN BETWEEN → Neutral</a:t>
            </a:r>
            <a:endParaRPr lang="en-US" sz="1050" dirty="0"/>
          </a:p>
          <a:p>
            <a:pPr marL="0" indent="0" algn="just">
              <a:buNone/>
            </a:pP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shows most reviews cluster strongly at either end — very few neutral opinions.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9728" y="3977640"/>
            <a:ext cx="8915400" cy="1005840"/>
          </a:xfrm>
          <a:prstGeom prst="rect">
            <a:avLst/>
          </a:prstGeom>
          <a:solidFill>
            <a:srgbClr val="0D7E83"/>
          </a:solidFill>
          <a:ln w="12700">
            <a:solidFill>
              <a:srgbClr val="0D7E83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" y="39776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clearly polarized: customers either love or hate a product. Very few sit in the neutral middle zone, showing strong emotional reactions.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4  —  Positive vs Negative by Category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54864" cy="45491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85800"/>
            <a:ext cx="530352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658368"/>
            <a:ext cx="3337560" cy="3246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7772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06440" y="1170432"/>
            <a:ext cx="30632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category is compared side-by-side:</a:t>
            </a:r>
            <a:endParaRPr lang="en-US" sz="1050" dirty="0"/>
          </a:p>
          <a:p>
            <a:pPr marL="0" indent="0" algn="just">
              <a:buNone/>
            </a:pP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Green bars = Positive reviews</a:t>
            </a: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 bars = Negative reviews</a:t>
            </a:r>
            <a:endParaRPr lang="en-US" sz="1050" dirty="0"/>
          </a:p>
          <a:p>
            <a:pPr marL="0" indent="0" algn="just">
              <a:buNone/>
            </a:pPr>
            <a:endParaRPr lang="en-US" sz="1050" dirty="0"/>
          </a:p>
          <a:p>
            <a:pPr marL="0" indent="0" algn="just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Amazon categories received a mix of positive and negative feedback, reflecting the reality of diverse customer experiences.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9728" y="3977640"/>
            <a:ext cx="891540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" y="39776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had both Positive and Negative reviews. Marketing teams can use this to focus customer service efforts on the most-criticized product lines.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proves that AI can understand human emotions in text — helping businesses act on customer feedback at scale.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73152" cy="4937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53.3% of reviews were Positive — customers were mostly satisfied with products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8503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92808"/>
            <a:ext cx="73152" cy="4937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33.3% of reviews were Negative — product quality and delivery need attention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59736"/>
            <a:ext cx="85039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59736"/>
            <a:ext cx="73152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9736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➖  13.3% were Neutral — some customers had average, unremarkable experiences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026664"/>
            <a:ext cx="8503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26664"/>
            <a:ext cx="73152" cy="493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26664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Sentiment scores were strongly polarized — very few reviews fell in the neutral zone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93592"/>
            <a:ext cx="8503920" cy="493776"/>
          </a:xfrm>
          <a:prstGeom prst="rect">
            <a:avLst/>
          </a:prstGeom>
          <a:solidFill>
            <a:srgbClr val="EEF2F7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593592"/>
            <a:ext cx="73152" cy="493776"/>
          </a:xfrm>
          <a:prstGeom prst="rect">
            <a:avLst/>
          </a:prstGeom>
          <a:solidFill>
            <a:srgbClr val="0D7E83"/>
          </a:solidFill>
          <a:ln w="12700">
            <a:solidFill>
              <a:srgbClr val="0D7E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9359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All 8 product categories had a mix of positive and negative customer feedback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8503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60520"/>
            <a:ext cx="73152" cy="4937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052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Sentiment Analysis saves businesses thousands of hours of manual review reading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E83"/>
          </a:solidFill>
          <a:ln w="12700">
            <a:solidFill>
              <a:srgbClr val="0D7E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Hutto, C. J., &amp; Gilbert, E. (2014). VADER: A parsimonious rule-based model for sentiment analysis of social media text. Proceedings of the 8th AAAI Conference on Weblogs and Social Media.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81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Pang, B., &amp; Lee, L. (2008). Opinion mining and sentiment analysis. Foundations and Trends in Information Retrieval, 2(1–2), 1–135.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8229600" cy="9144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96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Liu, B. (2012). Sentiment analysis and opinion mining. Morgan &amp; Claypool Publishers.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8229600" cy="9144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980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Amazon. (2023). Amazon customer reviews dataset. Amazon Web Services. https://aws.amazon.com/datasets/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346704"/>
            <a:ext cx="8229600" cy="9144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564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Bird, S., Klein, E., &amp; Loper, E. (2009). Natural language processing with Python. O'Reilly Media.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05072"/>
            <a:ext cx="8229600" cy="9144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Hunter, J. D. (2007). Matplotlib: A 2D graphics environment. Computing in Science &amp; Engineering, 9(3), 90–95.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846</Words>
  <Application>Microsoft Office PowerPoint</Application>
  <PresentationFormat>On-screen Show (16:9)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Report – Amazon Reviews</dc:title>
  <dc:subject>PptxGenJS Presentation</dc:subject>
  <dc:creator>[Your Name]</dc:creator>
  <cp:lastModifiedBy>ezhilofficial14@outlook.com</cp:lastModifiedBy>
  <cp:revision>2</cp:revision>
  <dcterms:created xsi:type="dcterms:W3CDTF">2026-06-08T06:55:01Z</dcterms:created>
  <dcterms:modified xsi:type="dcterms:W3CDTF">2026-06-08T14:55:53Z</dcterms:modified>
</cp:coreProperties>
</file>